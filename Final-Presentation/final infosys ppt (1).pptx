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1" r:id="rId18"/>
    <p:sldId id="272" r:id="rId19"/>
    <p:sldId id="273" r:id="rId20"/>
    <p:sldId id="274" r:id="rId21"/>
    <p:sldId id="275" r:id="rId22"/>
    <p:sldId id="276" r:id="rId23"/>
  </p:sldIdLst>
  <p:sldSz cx="18288000" cy="10287000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Crimson Pro" panose="020B0604020202020204" charset="0"/>
      <p:regular r:id="rId29"/>
    </p:embeddedFont>
    <p:embeddedFont>
      <p:font typeface="Heebo" panose="020F0502020204030204" pitchFamily="2" charset="-79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04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99D85-1BEA-4BFB-8F3A-5774DEC8517E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E019D-7001-4686-90EF-DAB3C8AAD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65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7E019D-7001-4686-90EF-DAB3C8AAD20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34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79836" y="-214497"/>
            <a:ext cx="7269764" cy="10336904"/>
            <a:chOff x="0" y="0"/>
            <a:chExt cx="9150922" cy="1301172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011680"/>
            </a:xfrm>
            <a:custGeom>
              <a:avLst/>
              <a:gdLst/>
              <a:ahLst/>
              <a:cxnLst/>
              <a:rect l="l" t="t" r="r" b="b"/>
              <a:pathLst>
                <a:path w="9150858" h="13011680">
                  <a:moveTo>
                    <a:pt x="0" y="0"/>
                  </a:moveTo>
                  <a:lnTo>
                    <a:pt x="9150858" y="0"/>
                  </a:lnTo>
                  <a:lnTo>
                    <a:pt x="9150858" y="13011680"/>
                  </a:lnTo>
                  <a:lnTo>
                    <a:pt x="0" y="1301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46" b="-274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991" y="3159890"/>
            <a:ext cx="9452677" cy="182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Smart City Mobility Analytics &amp; Intelligence 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991" y="5330190"/>
            <a:ext cx="9452677" cy="356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Data-Driven Urban Mobility, Transit, Demand &amp; Accessibility Analytics</a:t>
            </a:r>
          </a:p>
          <a:p>
            <a:pPr algn="l">
              <a:lnSpc>
                <a:spcPts val="3474"/>
              </a:lnSpc>
            </a:pPr>
            <a:r>
              <a:rPr lang="en-US" sz="2176" i="1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Infosys Springboard Internship</a:t>
            </a:r>
          </a:p>
          <a:p>
            <a:pPr algn="l">
              <a:lnSpc>
                <a:spcPts val="3474"/>
              </a:lnSpc>
            </a:pPr>
            <a:r>
              <a:rPr lang="en-US" sz="2176" i="1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Members detail:</a:t>
            </a:r>
          </a:p>
          <a:p>
            <a:pPr algn="l">
              <a:lnSpc>
                <a:spcPts val="3474"/>
              </a:lnSpc>
            </a:pPr>
            <a:r>
              <a:rPr lang="en-US" sz="2176" i="1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Ashish</a:t>
            </a:r>
          </a:p>
          <a:p>
            <a:pPr algn="l">
              <a:lnSpc>
                <a:spcPts val="3474"/>
              </a:lnSpc>
            </a:pPr>
            <a:r>
              <a:rPr lang="en-US" sz="2176" i="1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Akhil</a:t>
            </a:r>
          </a:p>
          <a:p>
            <a:pPr algn="l">
              <a:lnSpc>
                <a:spcPts val="3474"/>
              </a:lnSpc>
            </a:pPr>
            <a:r>
              <a:rPr lang="en-US" sz="2176" i="1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Benhur</a:t>
            </a:r>
          </a:p>
          <a:p>
            <a:pPr algn="l">
              <a:lnSpc>
                <a:spcPts val="3474"/>
              </a:lnSpc>
            </a:pPr>
            <a:r>
              <a:rPr lang="en-US" sz="2176" i="1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Khushi</a:t>
            </a:r>
          </a:p>
          <a:p>
            <a:pPr algn="l">
              <a:lnSpc>
                <a:spcPts val="3474"/>
              </a:lnSpc>
            </a:pPr>
            <a:r>
              <a:rPr lang="en-US" sz="2176" i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Sowjanya</a:t>
            </a:r>
            <a:endParaRPr lang="en-US" sz="2176" i="1" dirty="0">
              <a:solidFill>
                <a:srgbClr val="4C4C4D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89324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414902"/>
            <a:ext cx="1631586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 end-to-end platform transforming fragmented urban mobility data into actionable intelligence — from raw data ingestion to decision-ready dashboards.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991" y="3718246"/>
            <a:ext cx="8157934" cy="1134961"/>
            <a:chOff x="0" y="0"/>
            <a:chExt cx="10877245" cy="1513281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877296" cy="1513332"/>
            </a:xfrm>
            <a:custGeom>
              <a:avLst/>
              <a:gdLst/>
              <a:ahLst/>
              <a:cxnLst/>
              <a:rect l="l" t="t" r="r" b="b"/>
              <a:pathLst>
                <a:path w="10877296" h="1513332">
                  <a:moveTo>
                    <a:pt x="0" y="0"/>
                  </a:moveTo>
                  <a:lnTo>
                    <a:pt x="10877296" y="0"/>
                  </a:lnTo>
                  <a:lnTo>
                    <a:pt x="1087729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82" b="-37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76721" y="5108372"/>
            <a:ext cx="759047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Data Integration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721" y="5674252"/>
            <a:ext cx="759047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Traffic, transit, weather, demographics, ride-hailing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50925" y="3718246"/>
            <a:ext cx="8157934" cy="1134961"/>
            <a:chOff x="0" y="0"/>
            <a:chExt cx="10877245" cy="1513281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0877296" cy="1513332"/>
            </a:xfrm>
            <a:custGeom>
              <a:avLst/>
              <a:gdLst/>
              <a:ahLst/>
              <a:cxnLst/>
              <a:rect l="l" t="t" r="r" b="b"/>
              <a:pathLst>
                <a:path w="10877296" h="1513332">
                  <a:moveTo>
                    <a:pt x="0" y="0"/>
                  </a:moveTo>
                  <a:lnTo>
                    <a:pt x="10877296" y="0"/>
                  </a:lnTo>
                  <a:lnTo>
                    <a:pt x="1087729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82" b="-378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434655" y="5108372"/>
            <a:ext cx="759047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Mobility Analytics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4655" y="5674252"/>
            <a:ext cx="759047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Traffic flow, transit performance, geospatial patterns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991" y="6488173"/>
            <a:ext cx="8157934" cy="1134961"/>
            <a:chOff x="0" y="0"/>
            <a:chExt cx="10877245" cy="1513281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0877296" cy="1513332"/>
            </a:xfrm>
            <a:custGeom>
              <a:avLst/>
              <a:gdLst/>
              <a:ahLst/>
              <a:cxnLst/>
              <a:rect l="l" t="t" r="r" b="b"/>
              <a:pathLst>
                <a:path w="10877296" h="1513332">
                  <a:moveTo>
                    <a:pt x="0" y="0"/>
                  </a:moveTo>
                  <a:lnTo>
                    <a:pt x="10877296" y="0"/>
                  </a:lnTo>
                  <a:lnTo>
                    <a:pt x="1087729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82" b="-378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276721" y="7878289"/>
            <a:ext cx="759047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Demand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6721" y="8444170"/>
            <a:ext cx="759047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Forecasting, anomaly detection, trend analysis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150925" y="6488173"/>
            <a:ext cx="8157934" cy="1134961"/>
            <a:chOff x="0" y="0"/>
            <a:chExt cx="10877245" cy="1513281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0877296" cy="1513332"/>
            </a:xfrm>
            <a:custGeom>
              <a:avLst/>
              <a:gdLst/>
              <a:ahLst/>
              <a:cxnLst/>
              <a:rect l="l" t="t" r="r" b="b"/>
              <a:pathLst>
                <a:path w="10877296" h="1513332">
                  <a:moveTo>
                    <a:pt x="0" y="0"/>
                  </a:moveTo>
                  <a:lnTo>
                    <a:pt x="10877296" y="0"/>
                  </a:lnTo>
                  <a:lnTo>
                    <a:pt x="1087729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82" b="-378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434655" y="7878289"/>
            <a:ext cx="759047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Accessibility &amp; Decision Support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34655" y="8444170"/>
            <a:ext cx="759047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Equity analysis, service gap identification, policy support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39779" y="247794"/>
            <a:ext cx="16315868" cy="48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4700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Problem Statement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76466" y="724101"/>
            <a:ext cx="8462302" cy="8462514"/>
            <a:chOff x="0" y="0"/>
            <a:chExt cx="10639336" cy="1063960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639298" cy="10639552"/>
            </a:xfrm>
            <a:custGeom>
              <a:avLst/>
              <a:gdLst/>
              <a:ahLst/>
              <a:cxnLst/>
              <a:rect l="l" t="t" r="r" b="b"/>
              <a:pathLst>
                <a:path w="10639298" h="10639552">
                  <a:moveTo>
                    <a:pt x="0" y="0"/>
                  </a:moveTo>
                  <a:lnTo>
                    <a:pt x="10639298" y="0"/>
                  </a:lnTo>
                  <a:lnTo>
                    <a:pt x="10639298" y="10639552"/>
                  </a:lnTo>
                  <a:lnTo>
                    <a:pt x="0" y="106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111440" y="8870151"/>
            <a:ext cx="7979502" cy="911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20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Urban mobility data is siloed, inconsistent, and difficult to interpret — limiting evidence-based planning and equitable service delivery across cities.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408977" y="46639"/>
            <a:ext cx="6859973" cy="10248400"/>
          </a:xfrm>
          <a:custGeom>
            <a:avLst/>
            <a:gdLst/>
            <a:ahLst/>
            <a:cxnLst/>
            <a:rect l="l" t="t" r="r" b="b"/>
            <a:pathLst>
              <a:path w="6859973" h="10248400">
                <a:moveTo>
                  <a:pt x="0" y="0"/>
                </a:moveTo>
                <a:lnTo>
                  <a:pt x="6859973" y="0"/>
                </a:lnTo>
                <a:lnTo>
                  <a:pt x="6859973" y="10248400"/>
                </a:lnTo>
                <a:lnTo>
                  <a:pt x="0" y="10248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4" b="-234"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824436"/>
            <a:ext cx="16315868" cy="74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Project Objectives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991" y="1929279"/>
            <a:ext cx="16315868" cy="1356589"/>
          </a:xfrm>
          <a:custGeom>
            <a:avLst/>
            <a:gdLst/>
            <a:ahLst/>
            <a:cxnLst/>
            <a:rect l="l" t="t" r="r" b="b"/>
            <a:pathLst>
              <a:path w="16315868" h="1356589">
                <a:moveTo>
                  <a:pt x="0" y="0"/>
                </a:moveTo>
                <a:lnTo>
                  <a:pt x="16315868" y="0"/>
                </a:lnTo>
                <a:lnTo>
                  <a:pt x="16315868" y="1356589"/>
                </a:lnTo>
                <a:lnTo>
                  <a:pt x="0" y="1356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51" b="-551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04125" y="2395623"/>
            <a:ext cx="339138" cy="423901"/>
            <a:chOff x="0" y="0"/>
            <a:chExt cx="452183" cy="5652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2183" cy="565196"/>
            </a:xfrm>
            <a:custGeom>
              <a:avLst/>
              <a:gdLst/>
              <a:ahLst/>
              <a:cxnLst/>
              <a:rect l="l" t="t" r="r" b="b"/>
              <a:pathLst>
                <a:path w="452183" h="565196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1" r="-11037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452183" cy="5747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06025" y="2155403"/>
            <a:ext cx="14948144" cy="38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Integrate Mobility Datasets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06025" y="2616679"/>
            <a:ext cx="14948144" cy="3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Consolidate traffic, transit, weather, demographic, and ride-hailing data into a unified platform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991" y="3465938"/>
            <a:ext cx="16315868" cy="1356589"/>
          </a:xfrm>
          <a:custGeom>
            <a:avLst/>
            <a:gdLst/>
            <a:ahLst/>
            <a:cxnLst/>
            <a:rect l="l" t="t" r="r" b="b"/>
            <a:pathLst>
              <a:path w="16315868" h="1356589">
                <a:moveTo>
                  <a:pt x="0" y="0"/>
                </a:moveTo>
                <a:lnTo>
                  <a:pt x="16315868" y="0"/>
                </a:lnTo>
                <a:lnTo>
                  <a:pt x="16315868" y="1356589"/>
                </a:lnTo>
                <a:lnTo>
                  <a:pt x="0" y="1356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51" b="-551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304125" y="3932282"/>
            <a:ext cx="339138" cy="423901"/>
            <a:chOff x="0" y="0"/>
            <a:chExt cx="452183" cy="5652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2183" cy="565196"/>
            </a:xfrm>
            <a:custGeom>
              <a:avLst/>
              <a:gdLst/>
              <a:ahLst/>
              <a:cxnLst/>
              <a:rect l="l" t="t" r="r" b="b"/>
              <a:pathLst>
                <a:path w="452183" h="565196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1" r="-11037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52183" cy="5747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06025" y="3692061"/>
            <a:ext cx="14948144" cy="38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Clean &amp; Standardise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06025" y="4153338"/>
            <a:ext cx="14948144" cy="3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Transform raw, heterogeneous inputs into consistent, analysis-ready formats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92991" y="5002597"/>
            <a:ext cx="16315868" cy="1356589"/>
          </a:xfrm>
          <a:custGeom>
            <a:avLst/>
            <a:gdLst/>
            <a:ahLst/>
            <a:cxnLst/>
            <a:rect l="l" t="t" r="r" b="b"/>
            <a:pathLst>
              <a:path w="16315868" h="1356589">
                <a:moveTo>
                  <a:pt x="0" y="0"/>
                </a:moveTo>
                <a:lnTo>
                  <a:pt x="16315868" y="0"/>
                </a:lnTo>
                <a:lnTo>
                  <a:pt x="16315868" y="1356588"/>
                </a:lnTo>
                <a:lnTo>
                  <a:pt x="0" y="1356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51" b="-551"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304125" y="5468941"/>
            <a:ext cx="339138" cy="423901"/>
            <a:chOff x="0" y="0"/>
            <a:chExt cx="452183" cy="5652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2183" cy="565196"/>
            </a:xfrm>
            <a:custGeom>
              <a:avLst/>
              <a:gdLst/>
              <a:ahLst/>
              <a:cxnLst/>
              <a:rect l="l" t="t" r="r" b="b"/>
              <a:pathLst>
                <a:path w="452183" h="565196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1" r="-11037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452183" cy="5747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3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06025" y="5228720"/>
            <a:ext cx="14948144" cy="38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Build Analytical Models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06025" y="5689997"/>
            <a:ext cx="14948144" cy="3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Design structured fact and dimension tables with a star-schema data model</a:t>
            </a:r>
          </a:p>
        </p:txBody>
      </p:sp>
      <p:sp>
        <p:nvSpPr>
          <p:cNvPr id="25" name="Freeform 25" descr="preencoded.png"/>
          <p:cNvSpPr/>
          <p:nvPr/>
        </p:nvSpPr>
        <p:spPr>
          <a:xfrm>
            <a:off x="992991" y="6539255"/>
            <a:ext cx="16315868" cy="1356589"/>
          </a:xfrm>
          <a:custGeom>
            <a:avLst/>
            <a:gdLst/>
            <a:ahLst/>
            <a:cxnLst/>
            <a:rect l="l" t="t" r="r" b="b"/>
            <a:pathLst>
              <a:path w="16315868" h="1356589">
                <a:moveTo>
                  <a:pt x="0" y="0"/>
                </a:moveTo>
                <a:lnTo>
                  <a:pt x="16315868" y="0"/>
                </a:lnTo>
                <a:lnTo>
                  <a:pt x="16315868" y="1356589"/>
                </a:lnTo>
                <a:lnTo>
                  <a:pt x="0" y="1356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51" b="-55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304125" y="7005599"/>
            <a:ext cx="339138" cy="423901"/>
            <a:chOff x="0" y="0"/>
            <a:chExt cx="452183" cy="56520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2183" cy="565196"/>
            </a:xfrm>
            <a:custGeom>
              <a:avLst/>
              <a:gdLst/>
              <a:ahLst/>
              <a:cxnLst/>
              <a:rect l="l" t="t" r="r" b="b"/>
              <a:pathLst>
                <a:path w="452183" h="565196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1" r="-11037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52183" cy="5747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4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106025" y="6765379"/>
            <a:ext cx="14948144" cy="38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Develop Mobility Intelligence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06025" y="7226665"/>
            <a:ext cx="14948144" cy="3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Create mobility, demand, and geospatial analytics with DAX measures and KPIs</a:t>
            </a:r>
          </a:p>
        </p:txBody>
      </p:sp>
      <p:sp>
        <p:nvSpPr>
          <p:cNvPr id="31" name="Freeform 31" descr="preencoded.png"/>
          <p:cNvSpPr/>
          <p:nvPr/>
        </p:nvSpPr>
        <p:spPr>
          <a:xfrm>
            <a:off x="992991" y="8075924"/>
            <a:ext cx="16315868" cy="1356589"/>
          </a:xfrm>
          <a:custGeom>
            <a:avLst/>
            <a:gdLst/>
            <a:ahLst/>
            <a:cxnLst/>
            <a:rect l="l" t="t" r="r" b="b"/>
            <a:pathLst>
              <a:path w="16315868" h="1356589">
                <a:moveTo>
                  <a:pt x="0" y="0"/>
                </a:moveTo>
                <a:lnTo>
                  <a:pt x="16315868" y="0"/>
                </a:lnTo>
                <a:lnTo>
                  <a:pt x="16315868" y="1356588"/>
                </a:lnTo>
                <a:lnTo>
                  <a:pt x="0" y="1356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51" b="-551"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304125" y="8542268"/>
            <a:ext cx="339138" cy="423901"/>
            <a:chOff x="0" y="0"/>
            <a:chExt cx="452183" cy="56520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2183" cy="565196"/>
            </a:xfrm>
            <a:custGeom>
              <a:avLst/>
              <a:gdLst/>
              <a:ahLst/>
              <a:cxnLst/>
              <a:rect l="l" t="t" r="r" b="b"/>
              <a:pathLst>
                <a:path w="452183" h="565196">
                  <a:moveTo>
                    <a:pt x="0" y="0"/>
                  </a:moveTo>
                  <a:lnTo>
                    <a:pt x="452183" y="0"/>
                  </a:lnTo>
                  <a:lnTo>
                    <a:pt x="452183" y="565196"/>
                  </a:lnTo>
                  <a:lnTo>
                    <a:pt x="0" y="565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1" r="-11037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452183" cy="5747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5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106025" y="8302038"/>
            <a:ext cx="14948144" cy="38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Support Accessibility &amp; Decisions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06025" y="8763324"/>
            <a:ext cx="14948144" cy="3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Enable equity analysis, anomaly detection, and data-driven decision support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68715"/>
            <a:ext cx="16315868" cy="48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4700" u="sng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End-to-End Solution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78494" y="1650675"/>
            <a:ext cx="11567285" cy="6681372"/>
            <a:chOff x="0" y="0"/>
            <a:chExt cx="10639336" cy="614537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639298" cy="6145350"/>
            </a:xfrm>
            <a:custGeom>
              <a:avLst/>
              <a:gdLst/>
              <a:ahLst/>
              <a:cxnLst/>
              <a:rect l="l" t="t" r="r" b="b"/>
              <a:pathLst>
                <a:path w="10639298" h="6145350">
                  <a:moveTo>
                    <a:pt x="0" y="0"/>
                  </a:moveTo>
                  <a:lnTo>
                    <a:pt x="10639298" y="0"/>
                  </a:lnTo>
                  <a:lnTo>
                    <a:pt x="10639298" y="6145350"/>
                  </a:lnTo>
                  <a:lnTo>
                    <a:pt x="0" y="6145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6563" b="-3656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453314" y="7890601"/>
            <a:ext cx="8225085" cy="119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24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platform follows a five-stage pipeline — from raw source ingestion through preparation, modelling, analytics, and intelligence — ensuring every layer adds structure, consistency, and analytical value.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260253"/>
            <a:ext cx="16315868" cy="85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510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Data Acquisition, Integration &amp; Preparation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042190"/>
            <a:ext cx="10381917" cy="5883154"/>
            <a:chOff x="0" y="0"/>
            <a:chExt cx="13842555" cy="784420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842492" cy="7844155"/>
            </a:xfrm>
            <a:custGeom>
              <a:avLst/>
              <a:gdLst/>
              <a:ahLst/>
              <a:cxnLst/>
              <a:rect l="l" t="t" r="r" b="b"/>
              <a:pathLst>
                <a:path w="13842492" h="7844155">
                  <a:moveTo>
                    <a:pt x="0" y="0"/>
                  </a:moveTo>
                  <a:lnTo>
                    <a:pt x="13842492" y="0"/>
                  </a:lnTo>
                  <a:lnTo>
                    <a:pt x="13842492" y="7844155"/>
                  </a:lnTo>
                  <a:lnTo>
                    <a:pt x="0" y="7844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" b="-2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2022503" y="2627728"/>
            <a:ext cx="5295738" cy="127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Integrated and standardised traffic, metro, bus, weather/AQI, and demographic datasets for Power BI reporting.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22503" y="4050744"/>
            <a:ext cx="5295738" cy="264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46" lvl="1" indent="-183523" algn="l">
              <a:lnSpc>
                <a:spcPts val="3112"/>
              </a:lnSpc>
              <a:buFont typeface="Arial"/>
              <a:buChar char="•"/>
            </a:pPr>
            <a:r>
              <a:rPr lang="en-US" sz="20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Consolidated multiple mobility data sources into a unified schema</a:t>
            </a:r>
          </a:p>
          <a:p>
            <a:pPr marL="367046" lvl="1" indent="-183523" algn="l">
              <a:lnSpc>
                <a:spcPts val="3112"/>
              </a:lnSpc>
              <a:buFont typeface="Arial"/>
              <a:buChar char="•"/>
            </a:pPr>
            <a:r>
              <a:rPr lang="en-US" sz="20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Standardised analytical fields for consistent reporting</a:t>
            </a:r>
          </a:p>
          <a:p>
            <a:pPr marL="367046" lvl="1" indent="-183523" algn="l">
              <a:lnSpc>
                <a:spcPts val="3112"/>
              </a:lnSpc>
              <a:buFont typeface="Arial"/>
              <a:buChar char="•"/>
            </a:pPr>
            <a:r>
              <a:rPr lang="en-US" sz="20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Organised data for structured, repeatable dashboards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22503" y="6920122"/>
            <a:ext cx="5295738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Key Traffic Fields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22503" y="7484097"/>
            <a:ext cx="5295738" cy="178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4C4C4D"/>
                </a:solidFill>
                <a:latin typeface="Consolas"/>
                <a:ea typeface="Consolas"/>
                <a:cs typeface="Consolas"/>
                <a:sym typeface="Consolas"/>
              </a:rPr>
              <a:t>Trip_ID · start_area · end_area · distance_km · time_of_day · day_of_week · weather_condition · traffic_density_level · road_type · average_speed_kmph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92991" y="8415509"/>
            <a:ext cx="3968972" cy="1094746"/>
            <a:chOff x="0" y="0"/>
            <a:chExt cx="5291963" cy="14596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91963" cy="1459611"/>
            </a:xfrm>
            <a:custGeom>
              <a:avLst/>
              <a:gdLst/>
              <a:ahLst/>
              <a:cxnLst/>
              <a:rect l="l" t="t" r="r" b="b"/>
              <a:pathLst>
                <a:path w="5291963" h="1459611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5251196" y="0"/>
                  </a:lnTo>
                  <a:cubicBezTo>
                    <a:pt x="5273675" y="0"/>
                    <a:pt x="5291963" y="18288"/>
                    <a:pt x="5291963" y="40767"/>
                  </a:cubicBezTo>
                  <a:lnTo>
                    <a:pt x="5291963" y="1418844"/>
                  </a:lnTo>
                  <a:cubicBezTo>
                    <a:pt x="5291963" y="1441323"/>
                    <a:pt x="5273675" y="1459611"/>
                    <a:pt x="5251196" y="1459611"/>
                  </a:cubicBezTo>
                  <a:lnTo>
                    <a:pt x="40767" y="1459611"/>
                  </a:lnTo>
                  <a:cubicBezTo>
                    <a:pt x="18288" y="1459611"/>
                    <a:pt x="0" y="1441323"/>
                    <a:pt x="0" y="14188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108524" y="8415509"/>
            <a:ext cx="3969125" cy="1094746"/>
            <a:chOff x="0" y="0"/>
            <a:chExt cx="5292166" cy="14596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92090" cy="1459611"/>
            </a:xfrm>
            <a:custGeom>
              <a:avLst/>
              <a:gdLst/>
              <a:ahLst/>
              <a:cxnLst/>
              <a:rect l="l" t="t" r="r" b="b"/>
              <a:pathLst>
                <a:path w="5292090" h="1459611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5251323" y="0"/>
                  </a:lnTo>
                  <a:cubicBezTo>
                    <a:pt x="5273802" y="0"/>
                    <a:pt x="5292090" y="18288"/>
                    <a:pt x="5292090" y="40767"/>
                  </a:cubicBezTo>
                  <a:lnTo>
                    <a:pt x="5292090" y="1418844"/>
                  </a:lnTo>
                  <a:cubicBezTo>
                    <a:pt x="5292090" y="1441323"/>
                    <a:pt x="5273802" y="1459611"/>
                    <a:pt x="5251323" y="1459611"/>
                  </a:cubicBezTo>
                  <a:lnTo>
                    <a:pt x="40767" y="1459611"/>
                  </a:lnTo>
                  <a:cubicBezTo>
                    <a:pt x="18288" y="1459611"/>
                    <a:pt x="0" y="1441323"/>
                    <a:pt x="0" y="14188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224200" y="8415509"/>
            <a:ext cx="3968972" cy="1094746"/>
            <a:chOff x="0" y="0"/>
            <a:chExt cx="5291963" cy="14596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91963" cy="1459611"/>
            </a:xfrm>
            <a:custGeom>
              <a:avLst/>
              <a:gdLst/>
              <a:ahLst/>
              <a:cxnLst/>
              <a:rect l="l" t="t" r="r" b="b"/>
              <a:pathLst>
                <a:path w="5291963" h="1459611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5251196" y="0"/>
                  </a:lnTo>
                  <a:cubicBezTo>
                    <a:pt x="5273675" y="0"/>
                    <a:pt x="5291963" y="18288"/>
                    <a:pt x="5291963" y="40767"/>
                  </a:cubicBezTo>
                  <a:lnTo>
                    <a:pt x="5291963" y="1418844"/>
                  </a:lnTo>
                  <a:cubicBezTo>
                    <a:pt x="5291963" y="1441323"/>
                    <a:pt x="5273675" y="1459611"/>
                    <a:pt x="5251196" y="1459611"/>
                  </a:cubicBezTo>
                  <a:lnTo>
                    <a:pt x="40767" y="1459611"/>
                  </a:lnTo>
                  <a:cubicBezTo>
                    <a:pt x="18288" y="1459611"/>
                    <a:pt x="0" y="1441323"/>
                    <a:pt x="0" y="14188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3339734" y="8415509"/>
            <a:ext cx="3969125" cy="1094746"/>
            <a:chOff x="0" y="0"/>
            <a:chExt cx="5292166" cy="14596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92090" cy="1459611"/>
            </a:xfrm>
            <a:custGeom>
              <a:avLst/>
              <a:gdLst/>
              <a:ahLst/>
              <a:cxnLst/>
              <a:rect l="l" t="t" r="r" b="b"/>
              <a:pathLst>
                <a:path w="5292090" h="1459611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5251323" y="0"/>
                  </a:lnTo>
                  <a:cubicBezTo>
                    <a:pt x="5273802" y="0"/>
                    <a:pt x="5292090" y="18288"/>
                    <a:pt x="5292090" y="40767"/>
                  </a:cubicBezTo>
                  <a:lnTo>
                    <a:pt x="5292090" y="1418844"/>
                  </a:lnTo>
                  <a:cubicBezTo>
                    <a:pt x="5292090" y="1441323"/>
                    <a:pt x="5273802" y="1459611"/>
                    <a:pt x="5251323" y="1459611"/>
                  </a:cubicBezTo>
                  <a:lnTo>
                    <a:pt x="40767" y="1459611"/>
                  </a:lnTo>
                  <a:cubicBezTo>
                    <a:pt x="18288" y="1459611"/>
                    <a:pt x="0" y="1441323"/>
                    <a:pt x="0" y="14188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1058113" y="2089686"/>
            <a:ext cx="9532295" cy="6107628"/>
          </a:xfrm>
          <a:custGeom>
            <a:avLst/>
            <a:gdLst/>
            <a:ahLst/>
            <a:cxnLst/>
            <a:rect l="l" t="t" r="r" b="b"/>
            <a:pathLst>
              <a:path w="9532295" h="6107628">
                <a:moveTo>
                  <a:pt x="0" y="0"/>
                </a:moveTo>
                <a:lnTo>
                  <a:pt x="9532295" y="0"/>
                </a:lnTo>
                <a:lnTo>
                  <a:pt x="9532295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992991" y="1124255"/>
            <a:ext cx="16315868" cy="6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4700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Star Schema &amp; Data Model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31044" y="4681195"/>
            <a:ext cx="5387188" cy="86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traffic-centric star schema organises trip-level mobility data around a central fact table, connected to supporting dimension tables for efficient querying and analysis.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6892" y="8600370"/>
            <a:ext cx="3561178" cy="33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Fact_Traffic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6892" y="8997458"/>
            <a:ext cx="3561178" cy="30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Core trip records with measures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12416" y="8600370"/>
            <a:ext cx="3561321" cy="33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Dim_Weather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12416" y="8997458"/>
            <a:ext cx="3561321" cy="30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Weather and AQI attributes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28102" y="8600370"/>
            <a:ext cx="3561178" cy="33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Dim_Start_Area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28102" y="8997458"/>
            <a:ext cx="3561178" cy="30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Origin location details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43626" y="8600370"/>
            <a:ext cx="3561321" cy="33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Dim_End_Area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43626" y="8997458"/>
            <a:ext cx="3561321" cy="30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Destination location details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445667" y="4587706"/>
            <a:ext cx="2406856" cy="2426773"/>
            <a:chOff x="0" y="0"/>
            <a:chExt cx="3948913" cy="39815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48938" cy="3981577"/>
            </a:xfrm>
            <a:custGeom>
              <a:avLst/>
              <a:gdLst/>
              <a:ahLst/>
              <a:cxnLst/>
              <a:rect l="l" t="t" r="r" b="b"/>
              <a:pathLst>
                <a:path w="3948938" h="398157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3892169" y="0"/>
                  </a:lnTo>
                  <a:cubicBezTo>
                    <a:pt x="3923538" y="0"/>
                    <a:pt x="3948938" y="25400"/>
                    <a:pt x="3948938" y="56769"/>
                  </a:cubicBezTo>
                  <a:lnTo>
                    <a:pt x="3948938" y="3924808"/>
                  </a:lnTo>
                  <a:cubicBezTo>
                    <a:pt x="3948938" y="3956177"/>
                    <a:pt x="3923538" y="3981577"/>
                    <a:pt x="3892169" y="3981577"/>
                  </a:cubicBezTo>
                  <a:lnTo>
                    <a:pt x="56769" y="3981577"/>
                  </a:lnTo>
                  <a:cubicBezTo>
                    <a:pt x="25400" y="3981577"/>
                    <a:pt x="0" y="3956177"/>
                    <a:pt x="0" y="39248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083101" y="4587706"/>
            <a:ext cx="2406856" cy="2426773"/>
            <a:chOff x="0" y="0"/>
            <a:chExt cx="3948913" cy="39815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48938" cy="3981577"/>
            </a:xfrm>
            <a:custGeom>
              <a:avLst/>
              <a:gdLst/>
              <a:ahLst/>
              <a:cxnLst/>
              <a:rect l="l" t="t" r="r" b="b"/>
              <a:pathLst>
                <a:path w="3948938" h="398157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3892169" y="0"/>
                  </a:lnTo>
                  <a:cubicBezTo>
                    <a:pt x="3923538" y="0"/>
                    <a:pt x="3948938" y="25400"/>
                    <a:pt x="3948938" y="56769"/>
                  </a:cubicBezTo>
                  <a:lnTo>
                    <a:pt x="3948938" y="3924808"/>
                  </a:lnTo>
                  <a:cubicBezTo>
                    <a:pt x="3948938" y="3956177"/>
                    <a:pt x="3923538" y="3981577"/>
                    <a:pt x="3892169" y="3981577"/>
                  </a:cubicBezTo>
                  <a:lnTo>
                    <a:pt x="56769" y="3981577"/>
                  </a:lnTo>
                  <a:cubicBezTo>
                    <a:pt x="25400" y="3981577"/>
                    <a:pt x="0" y="3956177"/>
                    <a:pt x="0" y="39248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720543" y="4587706"/>
            <a:ext cx="2406856" cy="2426773"/>
            <a:chOff x="0" y="0"/>
            <a:chExt cx="3948913" cy="39815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48938" cy="3981577"/>
            </a:xfrm>
            <a:custGeom>
              <a:avLst/>
              <a:gdLst/>
              <a:ahLst/>
              <a:cxnLst/>
              <a:rect l="l" t="t" r="r" b="b"/>
              <a:pathLst>
                <a:path w="3948938" h="398157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3892169" y="0"/>
                  </a:lnTo>
                  <a:cubicBezTo>
                    <a:pt x="3923538" y="0"/>
                    <a:pt x="3948938" y="25400"/>
                    <a:pt x="3948938" y="56769"/>
                  </a:cubicBezTo>
                  <a:lnTo>
                    <a:pt x="3948938" y="3924808"/>
                  </a:lnTo>
                  <a:cubicBezTo>
                    <a:pt x="3948938" y="3956177"/>
                    <a:pt x="3923538" y="3981577"/>
                    <a:pt x="3892169" y="3981577"/>
                  </a:cubicBezTo>
                  <a:lnTo>
                    <a:pt x="56769" y="3981577"/>
                  </a:lnTo>
                  <a:cubicBezTo>
                    <a:pt x="25400" y="3981577"/>
                    <a:pt x="0" y="3956177"/>
                    <a:pt x="0" y="39248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445667" y="7245056"/>
            <a:ext cx="7681732" cy="1328679"/>
            <a:chOff x="0" y="0"/>
            <a:chExt cx="12603366" cy="21799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03352" cy="2179955"/>
            </a:xfrm>
            <a:custGeom>
              <a:avLst/>
              <a:gdLst/>
              <a:ahLst/>
              <a:cxnLst/>
              <a:rect l="l" t="t" r="r" b="b"/>
              <a:pathLst>
                <a:path w="12603352" h="217995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46584" y="0"/>
                  </a:lnTo>
                  <a:cubicBezTo>
                    <a:pt x="12577952" y="0"/>
                    <a:pt x="12603352" y="25400"/>
                    <a:pt x="12603352" y="56769"/>
                  </a:cubicBezTo>
                  <a:lnTo>
                    <a:pt x="12603352" y="2123186"/>
                  </a:lnTo>
                  <a:cubicBezTo>
                    <a:pt x="12603352" y="2154555"/>
                    <a:pt x="12577952" y="2179955"/>
                    <a:pt x="12546584" y="2179955"/>
                  </a:cubicBezTo>
                  <a:lnTo>
                    <a:pt x="56769" y="2179955"/>
                  </a:lnTo>
                  <a:cubicBezTo>
                    <a:pt x="25400" y="2179955"/>
                    <a:pt x="0" y="2154555"/>
                    <a:pt x="0" y="212318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92991" y="1820285"/>
            <a:ext cx="11275209" cy="828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u="sng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Urban Mobility Intelligence Dashboard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76245" y="4799234"/>
            <a:ext cx="1945700" cy="73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25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Speed &amp; Density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76245" y="5610408"/>
            <a:ext cx="1945700" cy="117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1768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speed and traffic density distribution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13679" y="4799234"/>
            <a:ext cx="1945700" cy="73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25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Transit Coverage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13679" y="5610408"/>
            <a:ext cx="1945700" cy="80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1768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Metro stations and total bus stops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951121" y="4799234"/>
            <a:ext cx="1945700" cy="37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25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Weather Impact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951121" y="5250183"/>
            <a:ext cx="1945700" cy="117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1768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Weather-based trips and average temperature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76245" y="7456592"/>
            <a:ext cx="7220576" cy="37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25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Time Patterns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76245" y="7907541"/>
            <a:ext cx="7220576" cy="435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1768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Trip distribution by time of day with weather filtering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D769257-9DF9-1400-0184-C106DE23C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29" y="3163964"/>
            <a:ext cx="10031009" cy="5697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037415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Milestone 2 — Geospatial &amp; Transit Analytics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641" y="3030965"/>
            <a:ext cx="8220485" cy="3223460"/>
            <a:chOff x="0" y="0"/>
            <a:chExt cx="10960646" cy="42979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60735" cy="4297934"/>
            </a:xfrm>
            <a:custGeom>
              <a:avLst/>
              <a:gdLst/>
              <a:ahLst/>
              <a:cxnLst/>
              <a:rect l="l" t="t" r="r" b="b"/>
              <a:pathLst>
                <a:path w="10960735" h="429793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903966" y="0"/>
                  </a:lnTo>
                  <a:cubicBezTo>
                    <a:pt x="10935335" y="0"/>
                    <a:pt x="10960735" y="25400"/>
                    <a:pt x="10960735" y="56769"/>
                  </a:cubicBezTo>
                  <a:lnTo>
                    <a:pt x="10960735" y="4241165"/>
                  </a:lnTo>
                  <a:cubicBezTo>
                    <a:pt x="10960735" y="4272534"/>
                    <a:pt x="10935335" y="4297934"/>
                    <a:pt x="10903966" y="4297934"/>
                  </a:cubicBezTo>
                  <a:lnTo>
                    <a:pt x="56769" y="4297934"/>
                  </a:lnTo>
                  <a:cubicBezTo>
                    <a:pt x="25400" y="4297934"/>
                    <a:pt x="0" y="4272534"/>
                    <a:pt x="0" y="4241165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2372" y="3286130"/>
            <a:ext cx="7653023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Geospatial Analytics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2372" y="3965500"/>
            <a:ext cx="7653023" cy="163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Mobility demand heatmaps across India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Delhi NCR origin–destination flow mapping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City-based geographic filtering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6588" y="3286130"/>
            <a:ext cx="7811795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Transit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06588" y="3965500"/>
            <a:ext cx="7811795" cy="2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Passenger count by route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On-time performance tracking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speed &amp; travel time analysis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Weather-based travel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992991" y="3282791"/>
            <a:ext cx="8477230" cy="5316358"/>
          </a:xfrm>
          <a:custGeom>
            <a:avLst/>
            <a:gdLst/>
            <a:ahLst/>
            <a:cxnLst/>
            <a:rect l="l" t="t" r="r" b="b"/>
            <a:pathLst>
              <a:path w="8477230" h="5316358">
                <a:moveTo>
                  <a:pt x="0" y="0"/>
                </a:moveTo>
                <a:lnTo>
                  <a:pt x="8477229" y="0"/>
                </a:lnTo>
                <a:lnTo>
                  <a:pt x="8477229" y="5316358"/>
                </a:lnTo>
                <a:lnTo>
                  <a:pt x="0" y="531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617993" y="3454241"/>
            <a:ext cx="7350043" cy="4190687"/>
          </a:xfrm>
          <a:custGeom>
            <a:avLst/>
            <a:gdLst/>
            <a:ahLst/>
            <a:cxnLst/>
            <a:rect l="l" t="t" r="r" b="b"/>
            <a:pathLst>
              <a:path w="7350043" h="4190687">
                <a:moveTo>
                  <a:pt x="0" y="0"/>
                </a:moveTo>
                <a:lnTo>
                  <a:pt x="7350043" y="0"/>
                </a:lnTo>
                <a:lnTo>
                  <a:pt x="7350043" y="4190687"/>
                </a:lnTo>
                <a:lnTo>
                  <a:pt x="0" y="4190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992991" y="1034024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Geospatial &amp; Route Performance Dashboards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991" y="2514486"/>
            <a:ext cx="17230954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Four Power BI dashboard views covering mobility heatmaps, flow mapping, route KPIs, and weather-influenced travel patterns.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47883" y="1937035"/>
            <a:ext cx="12198781" cy="7023540"/>
          </a:xfrm>
          <a:custGeom>
            <a:avLst/>
            <a:gdLst/>
            <a:ahLst/>
            <a:cxnLst/>
            <a:rect l="l" t="t" r="r" b="b"/>
            <a:pathLst>
              <a:path w="12198781" h="7023540">
                <a:moveTo>
                  <a:pt x="0" y="0"/>
                </a:moveTo>
                <a:lnTo>
                  <a:pt x="12198781" y="0"/>
                </a:lnTo>
                <a:lnTo>
                  <a:pt x="12198781" y="7023541"/>
                </a:lnTo>
                <a:lnTo>
                  <a:pt x="0" y="7023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2991" y="723900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Geospatial &amp; Route Performance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55100" y="541579"/>
            <a:ext cx="15146900" cy="672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Milestone 3 — Demand Intelligence &amp; Mobility Analytics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209429"/>
            <a:ext cx="8340528" cy="45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90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Key Dimensions Analyzed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2848449"/>
            <a:ext cx="8340528" cy="164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9559" lvl="1" indent="-204780" algn="l">
              <a:lnSpc>
                <a:spcPts val="2713"/>
              </a:lnSpc>
              <a:buFont typeface="Arial"/>
              <a:buChar char="•"/>
            </a:pPr>
            <a:r>
              <a:rPr lang="en-US" sz="226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Ride-hailing demand &amp; completed rides</a:t>
            </a:r>
          </a:p>
          <a:p>
            <a:pPr marL="409559" lvl="1" indent="-204780" algn="l">
              <a:lnSpc>
                <a:spcPts val="2713"/>
              </a:lnSpc>
              <a:buFont typeface="Arial"/>
              <a:buChar char="•"/>
            </a:pPr>
            <a:r>
              <a:rPr lang="en-US" sz="226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Surge patterns &amp; wait time analysis</a:t>
            </a:r>
          </a:p>
          <a:p>
            <a:pPr marL="409559" lvl="1" indent="-204780" algn="l">
              <a:lnSpc>
                <a:spcPts val="2713"/>
              </a:lnSpc>
              <a:buFont typeface="Arial"/>
              <a:buChar char="•"/>
            </a:pPr>
            <a:r>
              <a:rPr lang="en-US" sz="226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Demand by hour &amp; transport mode</a:t>
            </a:r>
          </a:p>
          <a:p>
            <a:pPr marL="409559" lvl="1" indent="-204780" algn="l">
              <a:lnSpc>
                <a:spcPts val="2713"/>
              </a:lnSpc>
              <a:buFont typeface="Arial"/>
              <a:buChar char="•"/>
            </a:pPr>
            <a:r>
              <a:rPr lang="en-US" sz="226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Vehicle availability &amp; weather sensitivity</a:t>
            </a:r>
          </a:p>
          <a:p>
            <a:pPr marL="409559" lvl="1" indent="-204780" algn="l">
              <a:lnSpc>
                <a:spcPts val="2713"/>
              </a:lnSpc>
              <a:buFont typeface="Arial"/>
              <a:buChar char="•"/>
            </a:pPr>
            <a:r>
              <a:rPr lang="en-US" sz="226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Modal substitution &amp; micromobility trends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34400" y="1409701"/>
            <a:ext cx="8061065" cy="7848600"/>
            <a:chOff x="0" y="0"/>
            <a:chExt cx="10646486" cy="10646753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646537" cy="10646791"/>
            </a:xfrm>
            <a:custGeom>
              <a:avLst/>
              <a:gdLst/>
              <a:ahLst/>
              <a:cxnLst/>
              <a:rect l="l" t="t" r="r" b="b"/>
              <a:pathLst>
                <a:path w="10646537" h="10646791">
                  <a:moveTo>
                    <a:pt x="0" y="0"/>
                  </a:moveTo>
                  <a:lnTo>
                    <a:pt x="10646537" y="0"/>
                  </a:lnTo>
                  <a:lnTo>
                    <a:pt x="10646537" y="10646791"/>
                  </a:lnTo>
                  <a:lnTo>
                    <a:pt x="0" y="10646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/>
              </a:stretch>
            </a:blipFill>
          </p:spPr>
        </p:sp>
      </p:grp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2150" y="1755341"/>
            <a:ext cx="8654833" cy="4863262"/>
          </a:xfrm>
          <a:custGeom>
            <a:avLst/>
            <a:gdLst/>
            <a:ahLst/>
            <a:cxnLst/>
            <a:rect l="l" t="t" r="r" b="b"/>
            <a:pathLst>
              <a:path w="8654833" h="4863262">
                <a:moveTo>
                  <a:pt x="0" y="0"/>
                </a:moveTo>
                <a:lnTo>
                  <a:pt x="8654833" y="0"/>
                </a:lnTo>
                <a:lnTo>
                  <a:pt x="8654833" y="4863262"/>
                </a:lnTo>
                <a:lnTo>
                  <a:pt x="0" y="4863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1755341"/>
            <a:ext cx="9001125" cy="5826764"/>
          </a:xfrm>
          <a:custGeom>
            <a:avLst/>
            <a:gdLst/>
            <a:ahLst/>
            <a:cxnLst/>
            <a:rect l="l" t="t" r="r" b="b"/>
            <a:pathLst>
              <a:path w="9001125" h="5826764">
                <a:moveTo>
                  <a:pt x="0" y="0"/>
                </a:moveTo>
                <a:lnTo>
                  <a:pt x="9001125" y="0"/>
                </a:lnTo>
                <a:lnTo>
                  <a:pt x="9001125" y="5826763"/>
                </a:lnTo>
                <a:lnTo>
                  <a:pt x="0" y="5826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55100" y="541579"/>
            <a:ext cx="7069700" cy="672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u="sng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 Work Done in Milestone 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542925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Forecasting, Ride-Hailing &amp; Micromobility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2525" y="3067069"/>
            <a:ext cx="3903888" cy="3903983"/>
            <a:chOff x="0" y="0"/>
            <a:chExt cx="5205184" cy="520531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5205222" cy="5205349"/>
            </a:xfrm>
            <a:custGeom>
              <a:avLst/>
              <a:gdLst/>
              <a:ahLst/>
              <a:cxnLst/>
              <a:rect l="l" t="t" r="r" b="b"/>
              <a:pathLst>
                <a:path w="5205222" h="5205349">
                  <a:moveTo>
                    <a:pt x="0" y="0"/>
                  </a:moveTo>
                  <a:lnTo>
                    <a:pt x="5205222" y="0"/>
                  </a:lnTo>
                  <a:lnTo>
                    <a:pt x="5205222" y="5205349"/>
                  </a:lnTo>
                  <a:lnTo>
                    <a:pt x="0" y="5205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133394" y="3067069"/>
            <a:ext cx="3904031" cy="3904136"/>
            <a:chOff x="0" y="0"/>
            <a:chExt cx="5205374" cy="520551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5205349" cy="5205476"/>
            </a:xfrm>
            <a:custGeom>
              <a:avLst/>
              <a:gdLst/>
              <a:ahLst/>
              <a:cxnLst/>
              <a:rect l="l" t="t" r="r" b="b"/>
              <a:pathLst>
                <a:path w="5205349" h="5205476">
                  <a:moveTo>
                    <a:pt x="0" y="0"/>
                  </a:moveTo>
                  <a:lnTo>
                    <a:pt x="5205349" y="0"/>
                  </a:lnTo>
                  <a:lnTo>
                    <a:pt x="5205349" y="5205476"/>
                  </a:lnTo>
                  <a:lnTo>
                    <a:pt x="0" y="520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264415" y="3067069"/>
            <a:ext cx="3903888" cy="3903983"/>
            <a:chOff x="0" y="0"/>
            <a:chExt cx="5205184" cy="5205311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5205222" cy="5205349"/>
            </a:xfrm>
            <a:custGeom>
              <a:avLst/>
              <a:gdLst/>
              <a:ahLst/>
              <a:cxnLst/>
              <a:rect l="l" t="t" r="r" b="b"/>
              <a:pathLst>
                <a:path w="5205222" h="5205349">
                  <a:moveTo>
                    <a:pt x="0" y="0"/>
                  </a:moveTo>
                  <a:lnTo>
                    <a:pt x="5205222" y="0"/>
                  </a:lnTo>
                  <a:lnTo>
                    <a:pt x="5205222" y="5205349"/>
                  </a:lnTo>
                  <a:lnTo>
                    <a:pt x="0" y="5205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395284" y="3067069"/>
            <a:ext cx="3904031" cy="3904136"/>
            <a:chOff x="0" y="0"/>
            <a:chExt cx="5205374" cy="5205514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5205349" cy="5205476"/>
            </a:xfrm>
            <a:custGeom>
              <a:avLst/>
              <a:gdLst/>
              <a:ahLst/>
              <a:cxnLst/>
              <a:rect l="l" t="t" r="r" b="b"/>
              <a:pathLst>
                <a:path w="5205349" h="5205476">
                  <a:moveTo>
                    <a:pt x="0" y="0"/>
                  </a:moveTo>
                  <a:lnTo>
                    <a:pt x="5205349" y="0"/>
                  </a:lnTo>
                  <a:lnTo>
                    <a:pt x="5205349" y="5205476"/>
                  </a:lnTo>
                  <a:lnTo>
                    <a:pt x="0" y="520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92991" y="7077608"/>
            <a:ext cx="16315868" cy="2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Demand Intelligence — ride-hailing demand, completed rides, and surge patterns by hour and location.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Demand Forecasting — time-series projections identifying peak demand windows and supply gaps.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Micromobility Analytics — usage trends across bike and scooter modes with modal substitution insights.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Ride-Hailing Intelligence — vehicle availability, wait times, and weather sensitivity analysis.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57051" y="1427216"/>
            <a:ext cx="8282744" cy="4647107"/>
          </a:xfrm>
          <a:custGeom>
            <a:avLst/>
            <a:gdLst/>
            <a:ahLst/>
            <a:cxnLst/>
            <a:rect l="l" t="t" r="r" b="b"/>
            <a:pathLst>
              <a:path w="8282744" h="4647107">
                <a:moveTo>
                  <a:pt x="0" y="0"/>
                </a:moveTo>
                <a:lnTo>
                  <a:pt x="8282744" y="0"/>
                </a:lnTo>
                <a:lnTo>
                  <a:pt x="8282744" y="4647107"/>
                </a:lnTo>
                <a:lnTo>
                  <a:pt x="0" y="4647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044620" y="5233245"/>
            <a:ext cx="8471855" cy="4771798"/>
          </a:xfrm>
          <a:custGeom>
            <a:avLst/>
            <a:gdLst/>
            <a:ahLst/>
            <a:cxnLst/>
            <a:rect l="l" t="t" r="r" b="b"/>
            <a:pathLst>
              <a:path w="8471855" h="4771798">
                <a:moveTo>
                  <a:pt x="0" y="0"/>
                </a:moveTo>
                <a:lnTo>
                  <a:pt x="8471855" y="0"/>
                </a:lnTo>
                <a:lnTo>
                  <a:pt x="8471855" y="4771797"/>
                </a:lnTo>
                <a:lnTo>
                  <a:pt x="0" y="4771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855100" y="541579"/>
            <a:ext cx="8189520" cy="672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u="sng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 Work Done in Milestone 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B01A-DD32-BEEE-8731-2D82CF282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C9A6A1-2E01-44E0-5C5D-8691FFF0BDBE}"/>
              </a:ext>
            </a:extLst>
          </p:cNvPr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E7B7CA-972A-73EF-2ABB-101CE4876AD2}"/>
                </a:ext>
              </a:extLst>
            </p:cNvPr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6926717-F8B0-4C9A-90A4-C2C8D36AA1C5}"/>
              </a:ext>
            </a:extLst>
          </p:cNvPr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BF9D90C-5AF8-E251-FDB8-0D2E4CD07271}"/>
                </a:ext>
              </a:extLst>
            </p:cNvPr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D1624B5B-650C-0ACB-DC75-104A9BC344DF}"/>
              </a:ext>
            </a:extLst>
          </p:cNvPr>
          <p:cNvSpPr txBox="1"/>
          <p:nvPr/>
        </p:nvSpPr>
        <p:spPr>
          <a:xfrm>
            <a:off x="855100" y="541579"/>
            <a:ext cx="10955900" cy="672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u="sng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Final Dashboard created for milestone 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F015DF-48C9-8C7D-9931-1A3F58DE0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70" y="1485900"/>
            <a:ext cx="12805555" cy="7162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685744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102052"/>
            <a:ext cx="16315868" cy="559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4700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Milestone 4 — Mobility Access &amp; Equity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972418"/>
            <a:ext cx="5350850" cy="50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4428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54.90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2622633"/>
            <a:ext cx="5350850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6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Mobility Access Index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991" y="2965342"/>
            <a:ext cx="5350850" cy="23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3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Overall composite access score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75495" y="1972418"/>
            <a:ext cx="5350850" cy="50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4428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66.07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75495" y="2622633"/>
            <a:ext cx="5350850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6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Service Coverage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75495" y="2965342"/>
            <a:ext cx="5350850" cy="23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3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coverage across zones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58009" y="1972418"/>
            <a:ext cx="5350850" cy="50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4428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36.14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58009" y="2622633"/>
            <a:ext cx="5350850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6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Avg Travel 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58009" y="2965342"/>
            <a:ext cx="5350850" cy="23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3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Minutes across transport modes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7266" y="5459431"/>
            <a:ext cx="7038791" cy="36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213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Dashboard Coverage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266" y="5954937"/>
            <a:ext cx="7038791" cy="969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827" lvl="1" indent="-158414" algn="l">
              <a:lnSpc>
                <a:spcPts val="2246"/>
              </a:lnSpc>
              <a:buFont typeface="Arial"/>
              <a:buChar char="•"/>
            </a:pPr>
            <a:r>
              <a:rPr lang="en-US" sz="1749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Access by transport mode</a:t>
            </a:r>
          </a:p>
          <a:p>
            <a:pPr marL="316827" lvl="1" indent="-158414" algn="l">
              <a:lnSpc>
                <a:spcPts val="2246"/>
              </a:lnSpc>
              <a:buFont typeface="Arial"/>
              <a:buChar char="•"/>
            </a:pPr>
            <a:r>
              <a:rPr lang="en-US" sz="1749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Top-access &amp; bottom-access areas</a:t>
            </a:r>
          </a:p>
          <a:p>
            <a:pPr marL="316827" lvl="1" indent="-158414" algn="l">
              <a:lnSpc>
                <a:spcPts val="2246"/>
              </a:lnSpc>
              <a:buFont typeface="Arial"/>
              <a:buChar char="•"/>
            </a:pPr>
            <a:r>
              <a:rPr lang="en-US" sz="1749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High-demand vs. low-coverage zones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860657" y="3434210"/>
            <a:ext cx="11056377" cy="6265382"/>
            <a:chOff x="0" y="0"/>
            <a:chExt cx="13943432" cy="7901407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3943457" cy="7901432"/>
            </a:xfrm>
            <a:custGeom>
              <a:avLst/>
              <a:gdLst/>
              <a:ahLst/>
              <a:cxnLst/>
              <a:rect l="l" t="t" r="r" b="b"/>
              <a:pathLst>
                <a:path w="13943457" h="7901432">
                  <a:moveTo>
                    <a:pt x="0" y="0"/>
                  </a:moveTo>
                  <a:lnTo>
                    <a:pt x="13943457" y="0"/>
                  </a:lnTo>
                  <a:lnTo>
                    <a:pt x="13943457" y="7901432"/>
                  </a:lnTo>
                  <a:lnTo>
                    <a:pt x="0" y="790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" r="-16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350950"/>
            <a:ext cx="1631586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Anomaly Detection &amp; Decision Support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2966828"/>
            <a:ext cx="10397109" cy="5891794"/>
            <a:chOff x="0" y="0"/>
            <a:chExt cx="13862812" cy="785572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862813" cy="7855712"/>
            </a:xfrm>
            <a:custGeom>
              <a:avLst/>
              <a:gdLst/>
              <a:ahLst/>
              <a:cxnLst/>
              <a:rect l="l" t="t" r="r" b="b"/>
              <a:pathLst>
                <a:path w="13862813" h="7855712">
                  <a:moveTo>
                    <a:pt x="0" y="0"/>
                  </a:moveTo>
                  <a:lnTo>
                    <a:pt x="13862813" y="0"/>
                  </a:lnTo>
                  <a:lnTo>
                    <a:pt x="13862813" y="7855712"/>
                  </a:lnTo>
                  <a:lnTo>
                    <a:pt x="0" y="785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" b="-6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994499" y="2636634"/>
            <a:ext cx="532388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Diagnostic Framework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994499" y="3281839"/>
            <a:ext cx="1219229" cy="1463078"/>
            <a:chOff x="0" y="0"/>
            <a:chExt cx="1625638" cy="1950771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625600" cy="1950720"/>
            </a:xfrm>
            <a:custGeom>
              <a:avLst/>
              <a:gdLst/>
              <a:ahLst/>
              <a:cxnLst/>
              <a:rect l="l" t="t" r="r" b="b"/>
              <a:pathLst>
                <a:path w="1625600" h="1950720">
                  <a:moveTo>
                    <a:pt x="0" y="0"/>
                  </a:moveTo>
                  <a:lnTo>
                    <a:pt x="1625600" y="0"/>
                  </a:lnTo>
                  <a:lnTo>
                    <a:pt x="162560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0" r="-2" b="-13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3423135" y="3497094"/>
            <a:ext cx="389524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Observed Pattern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23135" y="4058926"/>
            <a:ext cx="3895249" cy="419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Demand, availability, delay, weather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994499" y="4744926"/>
            <a:ext cx="1219229" cy="1463078"/>
            <a:chOff x="0" y="0"/>
            <a:chExt cx="1625638" cy="1950771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625600" cy="1950720"/>
            </a:xfrm>
            <a:custGeom>
              <a:avLst/>
              <a:gdLst/>
              <a:ahLst/>
              <a:cxnLst/>
              <a:rect l="l" t="t" r="r" b="b"/>
              <a:pathLst>
                <a:path w="1625600" h="1950720">
                  <a:moveTo>
                    <a:pt x="0" y="0"/>
                  </a:moveTo>
                  <a:lnTo>
                    <a:pt x="1625600" y="0"/>
                  </a:lnTo>
                  <a:lnTo>
                    <a:pt x="162560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0" r="-2" b="-132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3423135" y="4960172"/>
            <a:ext cx="389524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Anomaly Detection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23135" y="5522014"/>
            <a:ext cx="3895249" cy="419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Actual vs. expected deviation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94499" y="6208004"/>
            <a:ext cx="1219229" cy="1463078"/>
            <a:chOff x="0" y="0"/>
            <a:chExt cx="1625638" cy="1950771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625600" cy="1950720"/>
            </a:xfrm>
            <a:custGeom>
              <a:avLst/>
              <a:gdLst/>
              <a:ahLst/>
              <a:cxnLst/>
              <a:rect l="l" t="t" r="r" b="b"/>
              <a:pathLst>
                <a:path w="1625600" h="1950720">
                  <a:moveTo>
                    <a:pt x="0" y="0"/>
                  </a:moveTo>
                  <a:lnTo>
                    <a:pt x="1625600" y="0"/>
                  </a:lnTo>
                  <a:lnTo>
                    <a:pt x="162560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0" r="-2" b="-132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3423135" y="6423250"/>
            <a:ext cx="389524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Area Diagnosis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23135" y="6985092"/>
            <a:ext cx="3895249" cy="419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Zone-level root cause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94499" y="7671092"/>
            <a:ext cx="1219229" cy="1463078"/>
            <a:chOff x="0" y="0"/>
            <a:chExt cx="1625638" cy="1950771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625600" cy="1950720"/>
            </a:xfrm>
            <a:custGeom>
              <a:avLst/>
              <a:gdLst/>
              <a:ahLst/>
              <a:cxnLst/>
              <a:rect l="l" t="t" r="r" b="b"/>
              <a:pathLst>
                <a:path w="1625600" h="1950720">
                  <a:moveTo>
                    <a:pt x="0" y="0"/>
                  </a:moveTo>
                  <a:lnTo>
                    <a:pt x="1625600" y="0"/>
                  </a:lnTo>
                  <a:lnTo>
                    <a:pt x="162560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0" r="-2" b="-13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3423135" y="7886338"/>
            <a:ext cx="389524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Decision Support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23135" y="8448180"/>
            <a:ext cx="3895249" cy="419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Low-coverage &amp; night-time patterns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2100748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From Fragmented Data to Mobility Intelligence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641" y="3460575"/>
            <a:ext cx="8220485" cy="3776634"/>
            <a:chOff x="0" y="0"/>
            <a:chExt cx="10960646" cy="50355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60608" cy="5035550"/>
            </a:xfrm>
            <a:custGeom>
              <a:avLst/>
              <a:gdLst/>
              <a:ahLst/>
              <a:cxnLst/>
              <a:rect l="l" t="t" r="r" b="b"/>
              <a:pathLst>
                <a:path w="10960608" h="503555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903839" y="0"/>
                  </a:lnTo>
                  <a:cubicBezTo>
                    <a:pt x="10935208" y="0"/>
                    <a:pt x="10960608" y="25400"/>
                    <a:pt x="10960608" y="56769"/>
                  </a:cubicBezTo>
                  <a:lnTo>
                    <a:pt x="10960608" y="4978781"/>
                  </a:lnTo>
                  <a:cubicBezTo>
                    <a:pt x="10960608" y="5010150"/>
                    <a:pt x="10935208" y="5035550"/>
                    <a:pt x="10903839" y="5035550"/>
                  </a:cubicBezTo>
                  <a:lnTo>
                    <a:pt x="56769" y="5035550"/>
                  </a:lnTo>
                  <a:cubicBezTo>
                    <a:pt x="25400" y="5035550"/>
                    <a:pt x="0" y="5010150"/>
                    <a:pt x="0" y="4978781"/>
                  </a:cubicBezTo>
                  <a:close/>
                </a:path>
              </a:pathLst>
            </a:custGeom>
            <a:solidFill>
              <a:srgbClr val="04318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2372" y="3715741"/>
            <a:ext cx="7653023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Before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2372" y="4395111"/>
            <a:ext cx="7653023" cy="27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Fragmented, disconnected datasets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Limited geographic understanding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Difficult demand interpretation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Minimal visibility into accessibility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No structured anomaly identification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6588" y="3715741"/>
            <a:ext cx="7811795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After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06588" y="4395111"/>
            <a:ext cx="7811795" cy="27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Integrated datasets with structured data model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Interactive Power BI dashboards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Geospatial &amp; transit analytics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Demand forecasting &amp; supply analysis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Accessibility scoring &amp; anomaly-based decision support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991" y="7556402"/>
            <a:ext cx="16315868" cy="1134808"/>
            <a:chOff x="0" y="0"/>
            <a:chExt cx="21754490" cy="15130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54464" cy="1513078"/>
            </a:xfrm>
            <a:custGeom>
              <a:avLst/>
              <a:gdLst/>
              <a:ahLst/>
              <a:cxnLst/>
              <a:rect l="l" t="t" r="r" b="b"/>
              <a:pathLst>
                <a:path w="21754464" h="151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97696" y="0"/>
                  </a:lnTo>
                  <a:cubicBezTo>
                    <a:pt x="21729064" y="0"/>
                    <a:pt x="21754464" y="25400"/>
                    <a:pt x="21754464" y="56769"/>
                  </a:cubicBezTo>
                  <a:lnTo>
                    <a:pt x="21754464" y="1456309"/>
                  </a:lnTo>
                  <a:cubicBezTo>
                    <a:pt x="21754464" y="1487678"/>
                    <a:pt x="21729064" y="1513078"/>
                    <a:pt x="21697696" y="1513078"/>
                  </a:cubicBezTo>
                  <a:lnTo>
                    <a:pt x="56769" y="1513078"/>
                  </a:lnTo>
                  <a:cubicBezTo>
                    <a:pt x="25400" y="1513078"/>
                    <a:pt x="0" y="1487678"/>
                    <a:pt x="0" y="1456309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76721" y="7958252"/>
            <a:ext cx="354625" cy="283740"/>
            <a:chOff x="0" y="0"/>
            <a:chExt cx="472834" cy="37832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72821" cy="378333"/>
            </a:xfrm>
            <a:custGeom>
              <a:avLst/>
              <a:gdLst/>
              <a:ahLst/>
              <a:cxnLst/>
              <a:rect l="l" t="t" r="r" b="b"/>
              <a:pathLst>
                <a:path w="472821" h="378333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74" r="-676" b="3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915077" y="7834836"/>
            <a:ext cx="16025136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Four milestones progressively transformed mobility data into an integrated analytical and decision-support workflow.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58574" y="962025"/>
            <a:ext cx="8875901" cy="5751295"/>
          </a:xfrm>
          <a:custGeom>
            <a:avLst/>
            <a:gdLst/>
            <a:ahLst/>
            <a:cxnLst/>
            <a:rect l="l" t="t" r="r" b="b"/>
            <a:pathLst>
              <a:path w="8875901" h="5751295">
                <a:moveTo>
                  <a:pt x="0" y="0"/>
                </a:moveTo>
                <a:lnTo>
                  <a:pt x="8875901" y="0"/>
                </a:lnTo>
                <a:lnTo>
                  <a:pt x="8875901" y="5751295"/>
                </a:lnTo>
                <a:lnTo>
                  <a:pt x="0" y="5751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36645" y="4374019"/>
            <a:ext cx="8841212" cy="5688253"/>
          </a:xfrm>
          <a:custGeom>
            <a:avLst/>
            <a:gdLst/>
            <a:ahLst/>
            <a:cxnLst/>
            <a:rect l="l" t="t" r="r" b="b"/>
            <a:pathLst>
              <a:path w="8841212" h="5688253">
                <a:moveTo>
                  <a:pt x="0" y="0"/>
                </a:moveTo>
                <a:lnTo>
                  <a:pt x="8841212" y="0"/>
                </a:lnTo>
                <a:lnTo>
                  <a:pt x="8841212" y="5688253"/>
                </a:lnTo>
                <a:lnTo>
                  <a:pt x="0" y="568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55100" y="141732"/>
            <a:ext cx="6178815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u="sng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 Work Done in Milestone 4 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59775" y="885825"/>
            <a:ext cx="9453299" cy="6160142"/>
          </a:xfrm>
          <a:custGeom>
            <a:avLst/>
            <a:gdLst/>
            <a:ahLst/>
            <a:cxnLst/>
            <a:rect l="l" t="t" r="r" b="b"/>
            <a:pathLst>
              <a:path w="9453299" h="6160142">
                <a:moveTo>
                  <a:pt x="0" y="0"/>
                </a:moveTo>
                <a:lnTo>
                  <a:pt x="9453299" y="0"/>
                </a:lnTo>
                <a:lnTo>
                  <a:pt x="9453299" y="6160142"/>
                </a:lnTo>
                <a:lnTo>
                  <a:pt x="0" y="6160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55949" y="4099246"/>
            <a:ext cx="8382699" cy="5671487"/>
          </a:xfrm>
          <a:custGeom>
            <a:avLst/>
            <a:gdLst/>
            <a:ahLst/>
            <a:cxnLst/>
            <a:rect l="l" t="t" r="r" b="b"/>
            <a:pathLst>
              <a:path w="8382699" h="5671487">
                <a:moveTo>
                  <a:pt x="0" y="0"/>
                </a:moveTo>
                <a:lnTo>
                  <a:pt x="8382699" y="0"/>
                </a:lnTo>
                <a:lnTo>
                  <a:pt x="8382699" y="5671487"/>
                </a:lnTo>
                <a:lnTo>
                  <a:pt x="0" y="5671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55100" y="141732"/>
            <a:ext cx="6178815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u="sng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 Work Done in Milestone 4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991" y="9172556"/>
            <a:ext cx="16315868" cy="19069"/>
            <a:chOff x="0" y="0"/>
            <a:chExt cx="21754490" cy="25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54464" cy="25400"/>
            </a:xfrm>
            <a:custGeom>
              <a:avLst/>
              <a:gdLst/>
              <a:ahLst/>
              <a:cxnLst/>
              <a:rect l="l" t="t" r="r" b="b"/>
              <a:pathLst>
                <a:path w="21754464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41764" y="0"/>
                  </a:lnTo>
                  <a:cubicBezTo>
                    <a:pt x="21748750" y="0"/>
                    <a:pt x="21754464" y="5715"/>
                    <a:pt x="21754464" y="12700"/>
                  </a:cubicBezTo>
                  <a:cubicBezTo>
                    <a:pt x="21754464" y="19685"/>
                    <a:pt x="21748750" y="25400"/>
                    <a:pt x="21741764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C4C4D">
                <a:alpha val="24706"/>
              </a:srgbClr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838200" y="1866900"/>
            <a:ext cx="9583521" cy="6419850"/>
          </a:xfrm>
          <a:custGeom>
            <a:avLst/>
            <a:gdLst/>
            <a:ahLst/>
            <a:cxnLst/>
            <a:rect l="l" t="t" r="r" b="b"/>
            <a:pathLst>
              <a:path w="8449195" h="5735428">
                <a:moveTo>
                  <a:pt x="0" y="0"/>
                </a:moveTo>
                <a:lnTo>
                  <a:pt x="8449194" y="0"/>
                </a:lnTo>
                <a:lnTo>
                  <a:pt x="8449194" y="5735428"/>
                </a:lnTo>
                <a:lnTo>
                  <a:pt x="0" y="5735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92991" y="995420"/>
            <a:ext cx="5636409" cy="625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u="sng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Final  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62203" y="1783162"/>
            <a:ext cx="2471738" cy="36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Platform Capabilities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0778" y="2150141"/>
            <a:ext cx="645132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6575" lvl="1" indent="-208288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Mobility demand &amp; service coverage</a:t>
            </a:r>
          </a:p>
          <a:p>
            <a:pPr marL="416575" lvl="1" indent="-208288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Accessibility &amp; demand trends</a:t>
            </a:r>
          </a:p>
          <a:p>
            <a:pPr marL="416575" lvl="1" indent="-208288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High/low demand area identification</a:t>
            </a:r>
          </a:p>
          <a:p>
            <a:pPr marL="416575" lvl="1" indent="-208288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Anomaly-based decision support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86003" y="6780452"/>
            <a:ext cx="1573345" cy="358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Key Learnings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86003" y="7111074"/>
            <a:ext cx="7984865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8456" lvl="1" indent="-199228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Data preparation &amp; standardization</a:t>
            </a:r>
          </a:p>
          <a:p>
            <a:pPr marL="398456" lvl="1" indent="-199228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Star-schema data modeling</a:t>
            </a:r>
          </a:p>
          <a:p>
            <a:pPr marL="398456" lvl="1" indent="-199228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DAX &amp; KPI development</a:t>
            </a:r>
          </a:p>
          <a:p>
            <a:pPr marL="398456" lvl="1" indent="-199228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Geospatial visualization</a:t>
            </a:r>
          </a:p>
          <a:p>
            <a:pPr marL="398456" lvl="1" indent="-199228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Demand, trend &amp; accessibility analysis</a:t>
            </a:r>
          </a:p>
          <a:p>
            <a:pPr marL="398456" lvl="1" indent="-199228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Anomaly-based decision support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90778" y="4321768"/>
            <a:ext cx="3849222" cy="347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Future 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90778" y="4688747"/>
            <a:ext cx="7984865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6567" lvl="1" indent="-208284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Real-time data integration</a:t>
            </a:r>
          </a:p>
          <a:p>
            <a:pPr marL="416567" lvl="1" indent="-208284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Advanced predictive analytics</a:t>
            </a:r>
          </a:p>
          <a:p>
            <a:pPr marL="416567" lvl="1" indent="-208284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Automated monitoring &amp; alerting</a:t>
            </a:r>
          </a:p>
          <a:p>
            <a:pPr marL="416567" lvl="1" indent="-208284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Expanded forecasting models</a:t>
            </a:r>
          </a:p>
          <a:p>
            <a:pPr marL="416567" lvl="1" indent="-208284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Broader geographic coverage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6203" y="9229725"/>
            <a:ext cx="2226336" cy="641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40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853</Words>
  <Application>Microsoft Office PowerPoint</Application>
  <PresentationFormat>Custom</PresentationFormat>
  <Paragraphs>154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Heebo</vt:lpstr>
      <vt:lpstr>Arial</vt:lpstr>
      <vt:lpstr>Consolas</vt:lpstr>
      <vt:lpstr>Calibri</vt:lpstr>
      <vt:lpstr>Crimson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Done in Milestone 3</dc:title>
  <dc:creator>ASHISH</dc:creator>
  <cp:lastModifiedBy>sowjanyakothakota8@gmail.com</cp:lastModifiedBy>
  <cp:revision>8</cp:revision>
  <dcterms:created xsi:type="dcterms:W3CDTF">2006-08-16T00:00:00Z</dcterms:created>
  <dcterms:modified xsi:type="dcterms:W3CDTF">2026-09-20T17:17:51Z</dcterms:modified>
  <dc:identifier>DAHVbrSd3PI</dc:identifier>
</cp:coreProperties>
</file>